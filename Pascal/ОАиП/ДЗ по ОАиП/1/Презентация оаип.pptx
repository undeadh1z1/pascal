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5" r:id="rId2"/>
    <p:sldId id="257" r:id="rId3"/>
    <p:sldId id="261" r:id="rId4"/>
    <p:sldId id="262" r:id="rId5"/>
    <p:sldId id="263" r:id="rId6"/>
    <p:sldId id="258" r:id="rId7"/>
    <p:sldId id="259" r:id="rId8"/>
    <p:sldId id="260" r:id="rId9"/>
    <p:sldId id="264" r:id="rId10"/>
    <p:sldId id="26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C06A7B6-D853-4DBF-B601-E226B76DC89A}">
          <p14:sldIdLst>
            <p14:sldId id="265"/>
            <p14:sldId id="257"/>
            <p14:sldId id="261"/>
            <p14:sldId id="262"/>
            <p14:sldId id="263"/>
            <p14:sldId id="258"/>
            <p14:sldId id="259"/>
            <p14:sldId id="260"/>
            <p14:sldId id="264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5C2F3FC8-A62F-40FB-9459-F77B76E52F42}" type="datetimeFigureOut">
              <a:rPr lang="ru-RU" smtClean="0"/>
              <a:t>13.10.2019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D1F61B82-BA48-4861-B5D4-14CB6DE9D2EE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0%D0%BB%D0%B3%D0%BE%D1%80%D0%B8%D1%82%D0%BC_%D1%81%D0%BE%D1%80%D1%82%D0%B8%D1%80%D0%BE%D0%B2%D0%BA%D0%B8" TargetMode="External"/><Relationship Id="rId2" Type="http://schemas.openxmlformats.org/officeDocument/2006/relationships/hyperlink" Target="https://ru.wikipedia.org/wiki/%D0%90%D0%BD%D0%B3%D0%BB%D0%B8%D0%B9%D1%81%D0%BA%D0%B8%D0%B9_%D1%8F%D0%B7%D1%8B%D0%B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%D0%A1%D0%BE%D1%80%D1%82%D0%B8%D1%80%D0%BE%D0%B2%D0%BA%D0%B0_%D0%BF%D1%83%D0%B7%D1%8B%D1%80%D1%8C%D0%BA%D0%BE%D0%BC" TargetMode="External"/><Relationship Id="rId4" Type="http://schemas.openxmlformats.org/officeDocument/2006/relationships/hyperlink" Target="https://ru.wikipedia.org/wiki/%D0%A1%D0%BE%D1%80%D1%82%D0%B8%D1%80%D0%BE%D0%B2%D0%BA%D0%B0_%D0%B2%D1%81%D1%82%D0%B0%D0%B2%D0%BA%D0%B0%D0%BC%D0%B8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Презентация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Гномья</a:t>
            </a:r>
            <a:r>
              <a:rPr lang="ru-RU" dirty="0" smtClean="0"/>
              <a:t> сортировка</a:t>
            </a:r>
          </a:p>
          <a:p>
            <a:r>
              <a:rPr lang="ru-RU" dirty="0" smtClean="0"/>
              <a:t>Сортировка массивов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 smtClean="0"/>
              <a:t>Выполнил: студент группы ТИП 31 Бобылев С.С.</a:t>
            </a:r>
          </a:p>
          <a:p>
            <a:r>
              <a:rPr lang="ru-RU" dirty="0" smtClean="0"/>
              <a:t>Проверил: </a:t>
            </a:r>
            <a:r>
              <a:rPr lang="ru-RU" dirty="0" err="1" smtClean="0"/>
              <a:t>приподователь</a:t>
            </a:r>
            <a:r>
              <a:rPr lang="ru-RU" dirty="0" smtClean="0"/>
              <a:t>  ОАИП Петренко Л.В.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8227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539552" y="548680"/>
            <a:ext cx="8229600" cy="6009531"/>
          </a:xfrm>
        </p:spPr>
        <p:txBody>
          <a:bodyPr/>
          <a:lstStyle/>
          <a:p>
            <a:r>
              <a:rPr lang="ru-RU" b="1" dirty="0" err="1"/>
              <a:t>Гномья</a:t>
            </a:r>
            <a:r>
              <a:rPr lang="ru-RU" b="1" dirty="0"/>
              <a:t> сортировка</a:t>
            </a:r>
            <a:r>
              <a:rPr lang="ru-RU" dirty="0"/>
              <a:t> (</a:t>
            </a:r>
            <a:r>
              <a:rPr lang="ru-RU" dirty="0">
                <a:hlinkClick r:id="rId2" tooltip="Английский язык"/>
              </a:rPr>
              <a:t>англ.</a:t>
            </a:r>
            <a:r>
              <a:rPr lang="ru-RU" dirty="0"/>
              <a:t> </a:t>
            </a:r>
            <a:r>
              <a:rPr lang="ru-RU" i="1" dirty="0" err="1"/>
              <a:t>Gnome</a:t>
            </a:r>
            <a:r>
              <a:rPr lang="ru-RU" i="1" dirty="0"/>
              <a:t> </a:t>
            </a:r>
            <a:r>
              <a:rPr lang="ru-RU" i="1" dirty="0" err="1"/>
              <a:t>sort</a:t>
            </a:r>
            <a:r>
              <a:rPr lang="ru-RU" dirty="0"/>
              <a:t>) — </a:t>
            </a:r>
            <a:r>
              <a:rPr lang="ru-RU" dirty="0">
                <a:hlinkClick r:id="rId3" tooltip="Алгоритм сортировки"/>
              </a:rPr>
              <a:t>алгоритм сортировки</a:t>
            </a:r>
            <a:r>
              <a:rPr lang="ru-RU" dirty="0"/>
              <a:t>, похожий на </a:t>
            </a:r>
            <a:r>
              <a:rPr lang="ru-RU" dirty="0">
                <a:hlinkClick r:id="rId4" tooltip="Сортировка вставками"/>
              </a:rPr>
              <a:t>сортировку вставками</a:t>
            </a:r>
            <a:r>
              <a:rPr lang="ru-RU" dirty="0"/>
              <a:t>, но в отличие от последней перед вставкой на нужное место происходит серия обменов, как в </a:t>
            </a:r>
            <a:r>
              <a:rPr lang="ru-RU" dirty="0">
                <a:hlinkClick r:id="rId5" tooltip="Сортировка пузырьком"/>
              </a:rPr>
              <a:t>сортировке пузырьком</a:t>
            </a:r>
            <a:r>
              <a:rPr lang="ru-RU" dirty="0"/>
              <a:t>. Название происходит от предполагаемого поведения садовых гномов при сортировке линии садовых горшков.</a:t>
            </a:r>
          </a:p>
        </p:txBody>
      </p:sp>
    </p:spTree>
    <p:extLst>
      <p:ext uri="{BB962C8B-B14F-4D97-AF65-F5344CB8AC3E}">
        <p14:creationId xmlns:p14="http://schemas.microsoft.com/office/powerpoint/2010/main" val="71794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Гномья</a:t>
            </a:r>
            <a:r>
              <a:rPr lang="ru-RU" dirty="0"/>
              <a:t> сортировка основана на технике, используемой обыкновенным голландским садовым гномом. Вот как садовый гном сортирует ряд цветочных горшков. По существу, он смотрит на два соседних цветочных горшка, если они находятся в правильном порядке, то он переходит на один горшок вперед, иначе он меняет их местами и возвращается на один горшок назад. Граничные условия: если позади нет ни одного горшка – он шагает вперед, а если нет следующего горшка, тогда он закончил.</a:t>
            </a:r>
          </a:p>
        </p:txBody>
      </p:sp>
    </p:spTree>
    <p:extLst>
      <p:ext uri="{BB962C8B-B14F-4D97-AF65-F5344CB8AC3E}">
        <p14:creationId xmlns:p14="http://schemas.microsoft.com/office/powerpoint/2010/main" val="307538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>
            <a:normAutofit lnSpcReduction="10000"/>
          </a:bodyPr>
          <a:lstStyle/>
          <a:p>
            <a:pPr fontAlgn="base"/>
            <a:r>
              <a:rPr lang="ru-RU" dirty="0"/>
              <a:t>Так описал основную идею алгоритма </a:t>
            </a:r>
            <a:r>
              <a:rPr lang="ru-RU" dirty="0" err="1"/>
              <a:t>гномьей</a:t>
            </a:r>
            <a:r>
              <a:rPr lang="ru-RU" dirty="0"/>
              <a:t> сортировки Дик </a:t>
            </a:r>
            <a:r>
              <a:rPr lang="ru-RU" dirty="0" err="1"/>
              <a:t>Грун</a:t>
            </a:r>
            <a:r>
              <a:rPr lang="ru-RU" dirty="0"/>
              <a:t>. Заменим гнома и горшки на более формальные объекты, например на указатель (номер текущего элемента) и элементы массива, и рассмотрим принцип работы алгоритма еще раз. Вначале указатель ставиться на 2-ый элемент массива (в C++ он имеет номер 1, а в Паскале номер 2).</a:t>
            </a:r>
          </a:p>
          <a:p>
            <a:pPr fontAlgn="base"/>
            <a:r>
              <a:rPr lang="ru-RU" dirty="0"/>
              <a:t>Затем происходит сравнение двух соседних элементов A[i] и A[i-1], т. е. сравниваются первый элемент (i-1) и второй (i). Если те стоят на своих позициях, то сдвигаем указатель на позицию i+1 и продолжаем сравнение с нового положения; иначе меняем элементы местами, и, поскольку в какой-то момент может оказаться, что элементы в левом </a:t>
            </a:r>
            <a:r>
              <a:rPr lang="ru-RU" dirty="0" err="1"/>
              <a:t>подмассиве</a:t>
            </a:r>
            <a:r>
              <a:rPr lang="ru-RU" dirty="0"/>
              <a:t> стоят не на своих местах, сдвигаем указатель на одну позицию влево, осуществляя следующее сравнение с новой позиции. Так алгоритм продолжает выполняться до тех пор, пока весь массив не будет упорядочен.</a:t>
            </a:r>
          </a:p>
        </p:txBody>
      </p:sp>
    </p:spTree>
    <p:extLst>
      <p:ext uri="{BB962C8B-B14F-4D97-AF65-F5344CB8AC3E}">
        <p14:creationId xmlns:p14="http://schemas.microsoft.com/office/powerpoint/2010/main" val="205801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fontAlgn="base"/>
            <a:r>
              <a:rPr lang="ru-RU" b="1" dirty="0"/>
              <a:t>Во-первых,</a:t>
            </a:r>
            <a:r>
              <a:rPr lang="ru-RU" dirty="0"/>
              <a:t> процесс упорядочивания заканчивается, тогда когда не выполняется условие i&lt;n, где n – размер массива.</a:t>
            </a:r>
          </a:p>
          <a:p>
            <a:pPr fontAlgn="base"/>
            <a:r>
              <a:rPr lang="ru-RU" b="1" dirty="0"/>
              <a:t>Во-вторых,</a:t>
            </a:r>
            <a:r>
              <a:rPr lang="ru-RU" dirty="0"/>
              <a:t> как было сказано, указатель перемещается как вперед по списку, так и назад, и в том случае если он окажется над первым элементом, его сразу же следует сместить на одну позицию вправо, т. к. в противном случае придется сравнивать два элемента, одного из которых не существует.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9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idx="1"/>
          </p:nvPr>
        </p:nvSpPr>
        <p:spPr>
          <a:xfrm>
            <a:off x="457200" y="115888"/>
            <a:ext cx="8229600" cy="6010275"/>
          </a:xfrm>
        </p:spPr>
        <p:txBody>
          <a:bodyPr>
            <a:normAutofit/>
          </a:bodyPr>
          <a:lstStyle/>
          <a:p>
            <a:r>
              <a:rPr lang="ru-RU" dirty="0"/>
              <a:t>Алгоритм концептуально простой, не требует вложенных </a:t>
            </a:r>
            <a:r>
              <a:rPr lang="ru-RU" dirty="0" smtClean="0"/>
              <a:t>циклов. </a:t>
            </a:r>
            <a:r>
              <a:rPr lang="ru-RU" dirty="0"/>
              <a:t>На практике алгоритм может работать так же быстро, как и сортировка вставками.</a:t>
            </a:r>
          </a:p>
          <a:p>
            <a:r>
              <a:rPr lang="ru-RU" dirty="0"/>
              <a:t>Алгоритм находит первое место, где два соседних элемента стоят в неправильном порядке и меняет их местами. Он пользуется тем фактом, что обмен может породить новую пару, стоящую в неправильном порядке, только до или после переставленных элементов. Он не допускает, что элементы после текущей позиции отсортированы, таким образом, нужно только проверить позицию до переставленных элементов.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65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88640"/>
            <a:ext cx="8229600" cy="6480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gnomeSort</a:t>
            </a:r>
            <a:r>
              <a:rPr lang="en-US" dirty="0" smtClean="0"/>
              <a:t>(a[0..size - 1])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i = 1;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j = 2;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while i &lt; size if a[i - 1] &gt; a[i] //</a:t>
            </a:r>
            <a:r>
              <a:rPr lang="ru-RU" dirty="0" smtClean="0"/>
              <a:t>для сортировки по возрастанию поменяйте знак сравнения на &lt; </a:t>
            </a:r>
          </a:p>
          <a:p>
            <a:pPr marL="0" indent="0">
              <a:buNone/>
            </a:pPr>
            <a:r>
              <a:rPr lang="en-US" dirty="0" smtClean="0"/>
              <a:t>i = j;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j = j + 1;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else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swap a[i - 1] and a[i]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i = i - 1;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if i == 0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i = j;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j = j + 1;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43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/>
          </a:bodyPr>
          <a:lstStyle/>
          <a:p>
            <a:r>
              <a:rPr lang="ru-RU" dirty="0"/>
              <a:t>Пример:</a:t>
            </a:r>
          </a:p>
          <a:p>
            <a:r>
              <a:rPr lang="ru-RU" dirty="0"/>
              <a:t>Если мы хотим отсортировать массив с элементами [4] [2] [7] [3] от большего к меньшему, то на итерациях цикла </a:t>
            </a:r>
            <a:r>
              <a:rPr lang="ru-RU" dirty="0" err="1"/>
              <a:t>while</a:t>
            </a:r>
            <a:r>
              <a:rPr lang="ru-RU" dirty="0"/>
              <a:t> будет происходить следующее:</a:t>
            </a:r>
          </a:p>
          <a:p>
            <a:r>
              <a:rPr lang="ru-RU" dirty="0"/>
              <a:t>[4] [2] [7] [3] (начальное состояние: i == 1, j == 2);</a:t>
            </a:r>
          </a:p>
          <a:p>
            <a:r>
              <a:rPr lang="ru-RU" dirty="0"/>
              <a:t>[4] [2] [7] [3] (ничего не произошло, но сейчас i == 2, j == 3);</a:t>
            </a:r>
          </a:p>
          <a:p>
            <a:r>
              <a:rPr lang="ru-RU" dirty="0"/>
              <a:t>[4] [7] [2] [3] (обмен a[2] и a[1], сейчас i == 1, а j == 3 по-прежнему);</a:t>
            </a:r>
          </a:p>
          <a:p>
            <a:r>
              <a:rPr lang="ru-RU" dirty="0"/>
              <a:t>[7] [4] [2] [3] (обмен a[1] и a[0], сейчас i == 3, j == 4);</a:t>
            </a:r>
          </a:p>
          <a:p>
            <a:r>
              <a:rPr lang="ru-RU" dirty="0"/>
              <a:t>[7] [4] [3] [2] (обмен a[3] и a[2], сейчас i == 2, j == 4);</a:t>
            </a:r>
          </a:p>
          <a:p>
            <a:r>
              <a:rPr lang="ru-RU" dirty="0"/>
              <a:t>[7] [4] [3] [2] (ничего не произошло, но сейчас i == 4, j == 5);</a:t>
            </a:r>
          </a:p>
          <a:p>
            <a:r>
              <a:rPr lang="ru-RU" dirty="0"/>
              <a:t>цикл закончился, т. к. i не &lt; 4.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00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 err="1"/>
              <a:t>gnomesort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n,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[])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int</a:t>
            </a:r>
            <a:r>
              <a:rPr lang="en-US" dirty="0"/>
              <a:t> i = 0;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while (i &lt; n) {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if (i == 0 || </a:t>
            </a:r>
            <a:r>
              <a:rPr lang="en-US" dirty="0" err="1"/>
              <a:t>ar</a:t>
            </a:r>
            <a:r>
              <a:rPr lang="en-US" dirty="0"/>
              <a:t>[i-1] &lt;= </a:t>
            </a:r>
            <a:r>
              <a:rPr lang="en-US" dirty="0" err="1"/>
              <a:t>ar</a:t>
            </a:r>
            <a:r>
              <a:rPr lang="en-US" dirty="0"/>
              <a:t>[i]) i++;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else {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tmp</a:t>
            </a:r>
            <a:r>
              <a:rPr lang="en-US" dirty="0"/>
              <a:t> = </a:t>
            </a:r>
            <a:r>
              <a:rPr lang="en-US" dirty="0" err="1"/>
              <a:t>ar</a:t>
            </a:r>
            <a:r>
              <a:rPr lang="en-US" dirty="0"/>
              <a:t>[i]; </a:t>
            </a:r>
            <a:r>
              <a:rPr lang="en-US" dirty="0" err="1"/>
              <a:t>ar</a:t>
            </a:r>
            <a:r>
              <a:rPr lang="en-US" dirty="0"/>
              <a:t>[i] = </a:t>
            </a:r>
            <a:r>
              <a:rPr lang="en-US" dirty="0" err="1"/>
              <a:t>ar</a:t>
            </a:r>
            <a:r>
              <a:rPr lang="en-US" dirty="0"/>
              <a:t>[i-1]; </a:t>
            </a:r>
            <a:r>
              <a:rPr lang="en-US" dirty="0" err="1"/>
              <a:t>ar</a:t>
            </a:r>
            <a:r>
              <a:rPr lang="en-US" dirty="0"/>
              <a:t>[—i] = </a:t>
            </a:r>
            <a:r>
              <a:rPr lang="en-US" dirty="0" err="1"/>
              <a:t>tmp</a:t>
            </a:r>
            <a:r>
              <a:rPr lang="en-US" dirty="0"/>
              <a:t>;}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}</a:t>
            </a:r>
            <a:r>
              <a:rPr lang="nn-NO" b="0" i="0" dirty="0" smtClean="0">
                <a:solidFill>
                  <a:srgbClr val="F8F8F8"/>
                </a:solidFill>
                <a:effectLst/>
                <a:latin typeface="Monaco"/>
              </a:rPr>
              <a:t>gnomesort(int n, int ar[])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F8F8F8"/>
                </a:solidFill>
                <a:effectLst/>
                <a:latin typeface="Monaco"/>
              </a:rPr>
              <a:t>{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F8F8F8"/>
                </a:solidFill>
                <a:effectLst/>
                <a:latin typeface="Monaco"/>
              </a:rPr>
              <a:t>int i = 0;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F8F8F8"/>
                </a:solidFill>
                <a:effectLst/>
                <a:latin typeface="Monaco"/>
              </a:rPr>
              <a:t>while (i &lt; n) {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F8F8F8"/>
                </a:solidFill>
                <a:effectLst/>
                <a:latin typeface="Monaco"/>
              </a:rPr>
              <a:t>if (i == 0 || ar[i-1] &lt;= ar[i]) i+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0759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UnDead\Desktop\oy-nu-perestan_67243296_orig_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43" b="3143"/>
          <a:stretch/>
        </p:blipFill>
        <p:spPr bwMode="auto">
          <a:xfrm>
            <a:off x="755576" y="476672"/>
            <a:ext cx="7560840" cy="584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82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28</TotalTime>
  <Words>649</Words>
  <Application>Microsoft Office PowerPoint</Application>
  <PresentationFormat>Экран (4:3)</PresentationFormat>
  <Paragraphs>37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NewsPrint</vt:lpstr>
      <vt:lpstr>Презентация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Сортировка массивов</dc:title>
  <dc:creator>UnDead</dc:creator>
  <cp:lastModifiedBy>UnDead</cp:lastModifiedBy>
  <cp:revision>3</cp:revision>
  <dcterms:created xsi:type="dcterms:W3CDTF">2019-10-13T10:23:43Z</dcterms:created>
  <dcterms:modified xsi:type="dcterms:W3CDTF">2019-10-13T10:52:21Z</dcterms:modified>
</cp:coreProperties>
</file>